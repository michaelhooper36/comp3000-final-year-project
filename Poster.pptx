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3"/>
  </p:notes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11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CF48D3-D0BF-45C1-ADCB-12E0ED15E779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1DD64-501C-40A6-8171-26AB7ADC5B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8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1DD64-501C-40A6-8171-26AB7ADC5B7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107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7107" y="545777"/>
            <a:ext cx="8696086" cy="4136517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7107" y="4951731"/>
            <a:ext cx="8696088" cy="357822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520">
                <a:solidFill>
                  <a:schemeClr val="tx1">
                    <a:alpha val="80000"/>
                  </a:schemeClr>
                </a:solidFill>
              </a:defRPr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Wednesday, April 15,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454067" y="895660"/>
            <a:ext cx="1512000" cy="1326094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58187" y="1160547"/>
            <a:ext cx="567000" cy="1512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90842" y="3461997"/>
            <a:ext cx="378000" cy="504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96450" y="6334131"/>
            <a:ext cx="2079001" cy="1909482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</p:grpSp>
    </p:spTree>
    <p:extLst>
      <p:ext uri="{BB962C8B-B14F-4D97-AF65-F5344CB8AC3E}">
        <p14:creationId xmlns:p14="http://schemas.microsoft.com/office/powerpoint/2010/main" val="399047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44698" y="7468647"/>
            <a:ext cx="712042" cy="1386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3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05" y="768985"/>
            <a:ext cx="11646180" cy="18648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406" y="2958479"/>
            <a:ext cx="11644788" cy="5571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69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74306" y="1230610"/>
            <a:ext cx="770970" cy="1064708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41" y="664084"/>
            <a:ext cx="11631453" cy="4136517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72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85" y="5081682"/>
            <a:ext cx="11628609" cy="375053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520">
                <a:solidFill>
                  <a:schemeClr val="tx1">
                    <a:alpha val="80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769589" y="6227465"/>
            <a:ext cx="1049160" cy="1768126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2176784" y="6966122"/>
            <a:ext cx="756000" cy="1027198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</p:spTree>
    <p:extLst>
      <p:ext uri="{BB962C8B-B14F-4D97-AF65-F5344CB8AC3E}">
        <p14:creationId xmlns:p14="http://schemas.microsoft.com/office/powerpoint/2010/main" val="194856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623357" y="466725"/>
            <a:ext cx="378000" cy="504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48375" y="7739477"/>
            <a:ext cx="663048" cy="93492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06" y="768985"/>
            <a:ext cx="11644788" cy="1864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8405" y="2936045"/>
            <a:ext cx="5707380" cy="5593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815" y="2936045"/>
            <a:ext cx="5707380" cy="55939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3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646193" y="8250852"/>
            <a:ext cx="378000" cy="504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2024193" y="8159029"/>
            <a:ext cx="398001" cy="504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3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05" y="768985"/>
            <a:ext cx="11652429" cy="18648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36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407" y="2633785"/>
            <a:ext cx="5709045" cy="749496"/>
          </a:xfrm>
        </p:spPr>
        <p:txBody>
          <a:bodyPr anchor="b">
            <a:normAutofit/>
          </a:bodyPr>
          <a:lstStyle>
            <a:lvl1pPr marL="0" indent="0">
              <a:buNone/>
              <a:defRPr sz="1470" b="0" cap="all" spc="210" baseline="0">
                <a:solidFill>
                  <a:schemeClr val="tx1"/>
                </a:solidFill>
                <a:latin typeface="+mn-lt"/>
              </a:defRPr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406" y="3608179"/>
            <a:ext cx="5700570" cy="4921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2625" y="2633785"/>
            <a:ext cx="5708212" cy="749496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70" b="0" cap="all" spc="21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2624" y="3608179"/>
            <a:ext cx="5708211" cy="4921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0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7107" y="771119"/>
            <a:ext cx="8697479" cy="775883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31264" y="5541783"/>
            <a:ext cx="3713147" cy="2595557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223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505208" y="5109592"/>
            <a:ext cx="3652636" cy="3030780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223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50407" y="4139365"/>
            <a:ext cx="299874" cy="979837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869694" y="539330"/>
            <a:ext cx="1134000" cy="1512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012" tIns="48006" rIns="96012" bIns="48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223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54341" y="2119610"/>
            <a:ext cx="770970" cy="1064708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</p:grpSp>
    </p:spTree>
    <p:extLst>
      <p:ext uri="{BB962C8B-B14F-4D97-AF65-F5344CB8AC3E}">
        <p14:creationId xmlns:p14="http://schemas.microsoft.com/office/powerpoint/2010/main" val="192407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5197113" y="7156605"/>
            <a:ext cx="1326094" cy="186984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07" y="768986"/>
            <a:ext cx="11644789" cy="137883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0564" y="2450085"/>
            <a:ext cx="7712630" cy="6079871"/>
          </a:xfrm>
        </p:spPr>
        <p:txBody>
          <a:bodyPr>
            <a:normAutofit/>
          </a:bodyPr>
          <a:lstStyle>
            <a:lvl1pPr>
              <a:defRPr sz="1680"/>
            </a:lvl1pPr>
            <a:lvl2pPr>
              <a:defRPr sz="1680"/>
            </a:lvl2pPr>
            <a:lvl3pPr>
              <a:defRPr sz="1680"/>
            </a:lvl3pPr>
            <a:lvl4pPr>
              <a:defRPr sz="1680"/>
            </a:lvl4pPr>
            <a:lvl5pPr>
              <a:defRPr sz="168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407" y="2450085"/>
            <a:ext cx="3743801" cy="6079871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6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51713" y="7161725"/>
            <a:ext cx="770970" cy="1064708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223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06" y="805573"/>
            <a:ext cx="4725590" cy="1378839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36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0691" y="805573"/>
            <a:ext cx="6692504" cy="8026642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8406" y="2486673"/>
            <a:ext cx="4725590" cy="6345542"/>
          </a:xfrm>
        </p:spPr>
        <p:txBody>
          <a:bodyPr anchor="t" anchorCtr="0"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06" y="705469"/>
            <a:ext cx="11644789" cy="186628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1145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0110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Wednesday, April 15,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6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407" y="771121"/>
            <a:ext cx="11644789" cy="186628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406" y="2959408"/>
            <a:ext cx="11646180" cy="557054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8406" y="9145106"/>
            <a:ext cx="2760345" cy="14542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45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Wednesday, April 15,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27107" y="9145106"/>
            <a:ext cx="6698171" cy="14542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45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46306" y="9145106"/>
            <a:ext cx="1776888" cy="14542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45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3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60120" rtl="0" eaLnBrk="1" latinLnBrk="0" hangingPunct="1">
        <a:lnSpc>
          <a:spcPct val="100000"/>
        </a:lnSpc>
        <a:spcBef>
          <a:spcPct val="0"/>
        </a:spcBef>
        <a:buNone/>
        <a:defRPr lang="en-US" sz="504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110000"/>
        </a:lnSpc>
        <a:spcBef>
          <a:spcPts val="1050"/>
        </a:spcBef>
        <a:spcAft>
          <a:spcPts val="840"/>
        </a:spcAft>
        <a:buFont typeface="Arial" panose="020B0604020202020204" pitchFamily="34" charset="0"/>
        <a:buChar char="•"/>
        <a:defRPr sz="21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110000"/>
        </a:lnSpc>
        <a:spcBef>
          <a:spcPts val="525"/>
        </a:spcBef>
        <a:spcAft>
          <a:spcPts val="840"/>
        </a:spcAft>
        <a:buFont typeface="Arial" panose="020B0604020202020204" pitchFamily="34" charset="0"/>
        <a:buChar char="•"/>
        <a:defRPr sz="147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110000"/>
        </a:lnSpc>
        <a:spcBef>
          <a:spcPts val="525"/>
        </a:spcBef>
        <a:spcAft>
          <a:spcPts val="840"/>
        </a:spcAft>
        <a:buFont typeface="Arial" panose="020B0604020202020204" pitchFamily="34" charset="0"/>
        <a:buChar char="•"/>
        <a:defRPr sz="147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110000"/>
        </a:lnSpc>
        <a:spcBef>
          <a:spcPts val="525"/>
        </a:spcBef>
        <a:spcAft>
          <a:spcPts val="840"/>
        </a:spcAft>
        <a:buFont typeface="Arial" panose="020B0604020202020204" pitchFamily="34" charset="0"/>
        <a:buChar char="•"/>
        <a:defRPr sz="147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110000"/>
        </a:lnSpc>
        <a:spcBef>
          <a:spcPts val="525"/>
        </a:spcBef>
        <a:spcAft>
          <a:spcPts val="840"/>
        </a:spcAft>
        <a:buFont typeface="Arial" panose="020B0604020202020204" pitchFamily="34" charset="0"/>
        <a:buChar char="•"/>
        <a:defRPr sz="147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hyperlink" Target="mailto:michael.hooper@students.Plymouth.ac.uk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200150"/>
            <a:ext cx="12801600" cy="72009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3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26224E-E75A-4171-C2B5-EA577C479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46" y="0"/>
            <a:ext cx="12801600" cy="86876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6D66A4-6FEA-CE19-CB00-4059E5B84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9907" y="8687652"/>
            <a:ext cx="6902196" cy="910567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90" dirty="0"/>
              <a:t>Michael Hooper</a:t>
            </a:r>
            <a:br>
              <a:rPr lang="en-GB" sz="1890" dirty="0"/>
            </a:br>
            <a:r>
              <a:rPr lang="en-GB" sz="1890" dirty="0">
                <a:hlinkClick r:id="rId4"/>
              </a:rPr>
              <a:t>michael.hooper@students.plymouth.ac.uk</a:t>
            </a:r>
            <a:br>
              <a:rPr lang="en-GB" sz="1890" dirty="0"/>
            </a:br>
            <a:r>
              <a:rPr lang="en-GB" sz="1890" dirty="0"/>
              <a:t>BSc (Hons) Computer Science (Games Development)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37EA23-6703-4C96-9EEB-A408CBDD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62566"/>
            <a:ext cx="12801600" cy="1138485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23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FFF2E3-AB4B-AFD4-0596-7A766066B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4708" y="8687651"/>
            <a:ext cx="1742446" cy="910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E86DEA-2F0A-1EF0-0B84-0240C8A1A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49" y="8573692"/>
            <a:ext cx="1138485" cy="1138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C5208E-FE56-C9A6-3684-094CEAB498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15" y="8764658"/>
            <a:ext cx="2464309" cy="7565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FE44DE-BC03-61CC-5886-3CA9273730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" y="3886763"/>
            <a:ext cx="1417320" cy="241768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382977B-C19A-52B0-757B-D1D7D14217C6}"/>
              </a:ext>
            </a:extLst>
          </p:cNvPr>
          <p:cNvSpPr/>
          <p:nvPr/>
        </p:nvSpPr>
        <p:spPr>
          <a:xfrm>
            <a:off x="2790123" y="964839"/>
            <a:ext cx="7208901" cy="1254481"/>
          </a:xfrm>
          <a:prstGeom prst="rect">
            <a:avLst/>
          </a:prstGeom>
          <a:solidFill>
            <a:srgbClr val="000000">
              <a:alpha val="74902"/>
            </a:srgbClr>
          </a:solidFill>
          <a:ln>
            <a:solidFill>
              <a:srgbClr val="000000">
                <a:alpha val="50196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23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344758-EA4E-2405-7EDC-A98EA2682C86}"/>
              </a:ext>
            </a:extLst>
          </p:cNvPr>
          <p:cNvSpPr txBox="1"/>
          <p:nvPr/>
        </p:nvSpPr>
        <p:spPr>
          <a:xfrm>
            <a:off x="2781226" y="957436"/>
            <a:ext cx="721779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u="sng" dirty="0"/>
              <a:t>Summary</a:t>
            </a:r>
          </a:p>
          <a:p>
            <a:pPr marL="180023" indent="-180023" algn="ctr">
              <a:buFont typeface="Arial" panose="020B0604020202020204" pitchFamily="34" charset="0"/>
              <a:buChar char="•"/>
            </a:pPr>
            <a:r>
              <a:rPr lang="en-GB" sz="1600" dirty="0"/>
              <a:t>Play as a fisherman on the search for the most delicious fish in the land.</a:t>
            </a:r>
          </a:p>
          <a:p>
            <a:pPr marL="180023" indent="-180023" algn="ctr">
              <a:buFont typeface="Arial" panose="020B0604020202020204" pitchFamily="34" charset="0"/>
              <a:buChar char="•"/>
            </a:pPr>
            <a:r>
              <a:rPr lang="en-GB" sz="1600" dirty="0"/>
              <a:t>Swing around with your trusty fishing rod and throw bait to catch fish.</a:t>
            </a:r>
          </a:p>
          <a:p>
            <a:pPr marL="180023" indent="-180023" algn="ctr">
              <a:buFont typeface="Arial" panose="020B0604020202020204" pitchFamily="34" charset="0"/>
              <a:buChar char="•"/>
            </a:pPr>
            <a:r>
              <a:rPr lang="en-GB" sz="1600" dirty="0"/>
              <a:t>Master your fishing technique before being tested by challenging bosses.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AAA8A3-093D-F80C-B193-AA48BA551F09}"/>
              </a:ext>
            </a:extLst>
          </p:cNvPr>
          <p:cNvSpPr/>
          <p:nvPr/>
        </p:nvSpPr>
        <p:spPr>
          <a:xfrm>
            <a:off x="-1557" y="2606532"/>
            <a:ext cx="2809245" cy="1276176"/>
          </a:xfrm>
          <a:prstGeom prst="rect">
            <a:avLst/>
          </a:prstGeom>
          <a:solidFill>
            <a:srgbClr val="000000">
              <a:alpha val="50196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23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5E1366-ECAF-B043-E534-F9BBB70A2302}"/>
              </a:ext>
            </a:extLst>
          </p:cNvPr>
          <p:cNvSpPr txBox="1"/>
          <p:nvPr/>
        </p:nvSpPr>
        <p:spPr>
          <a:xfrm>
            <a:off x="-13343" y="2623303"/>
            <a:ext cx="279456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dirty="0"/>
              <a:t>Bait</a:t>
            </a:r>
          </a:p>
          <a:p>
            <a:pPr algn="ctr"/>
            <a:r>
              <a:rPr lang="en-GB" sz="1400" dirty="0"/>
              <a:t>Throughout the game, there are various types of bait that the player can obtain that provide different play patterns.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73AA51E-4923-CDD1-4133-F1184B2117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983" y="3886763"/>
            <a:ext cx="1397705" cy="241363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05FD5D-DED8-455E-54BB-2BC28036D3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6305351"/>
            <a:ext cx="1412873" cy="23783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60CCF62-1E69-B08F-9E7C-D8E4C66626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2872" y="6303546"/>
            <a:ext cx="1394816" cy="2380146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65147BC-9F9D-53BB-6C7E-24E5AD84E084}"/>
              </a:ext>
            </a:extLst>
          </p:cNvPr>
          <p:cNvSpPr/>
          <p:nvPr/>
        </p:nvSpPr>
        <p:spPr>
          <a:xfrm>
            <a:off x="6166884" y="5449632"/>
            <a:ext cx="3732510" cy="2657496"/>
          </a:xfrm>
          <a:prstGeom prst="roundRect">
            <a:avLst>
              <a:gd name="adj" fmla="val 2992"/>
            </a:avLst>
          </a:prstGeom>
          <a:solidFill>
            <a:srgbClr val="000000">
              <a:alpha val="74902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23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456EB-F03E-8A49-38AF-7CBFBF7742BB}"/>
              </a:ext>
            </a:extLst>
          </p:cNvPr>
          <p:cNvSpPr/>
          <p:nvPr/>
        </p:nvSpPr>
        <p:spPr>
          <a:xfrm>
            <a:off x="2787900" y="95291"/>
            <a:ext cx="7213349" cy="769329"/>
          </a:xfrm>
          <a:prstGeom prst="rect">
            <a:avLst/>
          </a:prstGeom>
          <a:solidFill>
            <a:srgbClr val="000000">
              <a:alpha val="74902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89AA8-6854-86EE-0627-2E8609BBD182}"/>
              </a:ext>
            </a:extLst>
          </p:cNvPr>
          <p:cNvSpPr txBox="1"/>
          <p:nvPr/>
        </p:nvSpPr>
        <p:spPr>
          <a:xfrm>
            <a:off x="2804799" y="15354"/>
            <a:ext cx="7208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>
                <a:latin typeface="Zain Fishing Hooks" panose="02000503000000000000" pitchFamily="2" charset="0"/>
              </a:rPr>
              <a:t>Hook line and slinger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0B11C9-D814-92BC-71D2-515402425ABF}"/>
              </a:ext>
            </a:extLst>
          </p:cNvPr>
          <p:cNvSpPr/>
          <p:nvPr/>
        </p:nvSpPr>
        <p:spPr>
          <a:xfrm>
            <a:off x="3072861" y="2740358"/>
            <a:ext cx="2461845" cy="2647359"/>
          </a:xfrm>
          <a:prstGeom prst="roundRect">
            <a:avLst>
              <a:gd name="adj" fmla="val 3333"/>
            </a:avLst>
          </a:prstGeom>
          <a:solidFill>
            <a:srgbClr val="000000">
              <a:alpha val="74902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3C9D004-D490-C68A-1BA6-76449FA1ED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8112" y="2807447"/>
            <a:ext cx="2331341" cy="171729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808267A-0CFE-312B-6B6F-F706C2730176}"/>
              </a:ext>
            </a:extLst>
          </p:cNvPr>
          <p:cNvSpPr txBox="1"/>
          <p:nvPr/>
        </p:nvSpPr>
        <p:spPr>
          <a:xfrm>
            <a:off x="3065490" y="4556720"/>
            <a:ext cx="2469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Move from one area to the next to encounter diverse enemies and challenges.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9F7AE95-0423-3232-EBB2-7086B0AA2618}"/>
              </a:ext>
            </a:extLst>
          </p:cNvPr>
          <p:cNvSpPr/>
          <p:nvPr/>
        </p:nvSpPr>
        <p:spPr>
          <a:xfrm>
            <a:off x="5620758" y="2740358"/>
            <a:ext cx="1968197" cy="2647359"/>
          </a:xfrm>
          <a:prstGeom prst="roundRect">
            <a:avLst>
              <a:gd name="adj" fmla="val 3563"/>
            </a:avLst>
          </a:prstGeom>
          <a:solidFill>
            <a:srgbClr val="000000">
              <a:alpha val="74902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A132EEC-F09A-94F2-A3FC-435152CAFA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2536" y="2818211"/>
            <a:ext cx="1844249" cy="169576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0CADF2A-81D9-9E0F-3D8F-2A359C85A0E2}"/>
              </a:ext>
            </a:extLst>
          </p:cNvPr>
          <p:cNvSpPr txBox="1"/>
          <p:nvPr/>
        </p:nvSpPr>
        <p:spPr>
          <a:xfrm>
            <a:off x="5620757" y="4547264"/>
            <a:ext cx="1968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Use your fishing rod to grapple to rings around each level.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97AFF86-F149-0F13-11BF-0D6BEDEE2D5B}"/>
              </a:ext>
            </a:extLst>
          </p:cNvPr>
          <p:cNvSpPr/>
          <p:nvPr/>
        </p:nvSpPr>
        <p:spPr>
          <a:xfrm>
            <a:off x="7675005" y="2746324"/>
            <a:ext cx="2221055" cy="2630190"/>
          </a:xfrm>
          <a:prstGeom prst="roundRect">
            <a:avLst>
              <a:gd name="adj" fmla="val 2944"/>
            </a:avLst>
          </a:prstGeom>
          <a:solidFill>
            <a:srgbClr val="000000">
              <a:alpha val="74902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BF6EE4A-ED63-2098-9C11-B480794330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38025" y="2827392"/>
            <a:ext cx="2098929" cy="171987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F30C585-FCFC-007B-73E9-64FB4B9222AB}"/>
              </a:ext>
            </a:extLst>
          </p:cNvPr>
          <p:cNvSpPr txBox="1"/>
          <p:nvPr/>
        </p:nvSpPr>
        <p:spPr>
          <a:xfrm>
            <a:off x="7678339" y="4564174"/>
            <a:ext cx="2221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Use grapple points to fly through the world or to reveal hidden paths.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8180014-961A-3C40-4EF5-B48B34745C55}"/>
              </a:ext>
            </a:extLst>
          </p:cNvPr>
          <p:cNvSpPr/>
          <p:nvPr/>
        </p:nvSpPr>
        <p:spPr>
          <a:xfrm>
            <a:off x="3075465" y="5449631"/>
            <a:ext cx="3042943" cy="2657496"/>
          </a:xfrm>
          <a:prstGeom prst="roundRect">
            <a:avLst>
              <a:gd name="adj" fmla="val 2992"/>
            </a:avLst>
          </a:prstGeom>
          <a:solidFill>
            <a:srgbClr val="000000">
              <a:alpha val="74902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05CE23C-93BC-3392-064E-484AD2EC912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36775" y="5523428"/>
            <a:ext cx="2920321" cy="198620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B3A62AD-1D77-C173-1A02-240B2747EFB4}"/>
              </a:ext>
            </a:extLst>
          </p:cNvPr>
          <p:cNvSpPr txBox="1"/>
          <p:nvPr/>
        </p:nvSpPr>
        <p:spPr>
          <a:xfrm>
            <a:off x="3075465" y="7511974"/>
            <a:ext cx="30108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Sit at benches to rest and switch up your loadout.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C6C7742F-31C6-54C0-A181-08BA0096226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9141" y="5525576"/>
            <a:ext cx="3587813" cy="198190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469F113-1F62-FEB7-5285-2A1441E397DD}"/>
              </a:ext>
            </a:extLst>
          </p:cNvPr>
          <p:cNvSpPr txBox="1"/>
          <p:nvPr/>
        </p:nvSpPr>
        <p:spPr>
          <a:xfrm>
            <a:off x="6180232" y="7494184"/>
            <a:ext cx="3719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Fight various bosses that test different mechanics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02C15CA-61BF-EE18-9872-B6427FEEB07D}"/>
              </a:ext>
            </a:extLst>
          </p:cNvPr>
          <p:cNvSpPr/>
          <p:nvPr/>
        </p:nvSpPr>
        <p:spPr>
          <a:xfrm>
            <a:off x="9961217" y="2746325"/>
            <a:ext cx="2578135" cy="5348704"/>
          </a:xfrm>
          <a:prstGeom prst="roundRect">
            <a:avLst>
              <a:gd name="adj" fmla="val 3026"/>
            </a:avLst>
          </a:prstGeom>
          <a:solidFill>
            <a:srgbClr val="000000">
              <a:alpha val="74902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F25F8C-5B32-64CD-CF8E-CD1D8AF815E6}"/>
              </a:ext>
            </a:extLst>
          </p:cNvPr>
          <p:cNvSpPr txBox="1"/>
          <p:nvPr/>
        </p:nvSpPr>
        <p:spPr>
          <a:xfrm>
            <a:off x="9964550" y="2746324"/>
            <a:ext cx="257480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For gamers of all ages</a:t>
            </a: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endParaRPr lang="en-GB" sz="1600" dirty="0"/>
          </a:p>
          <a:p>
            <a:r>
              <a:rPr lang="en-GB" sz="1600" dirty="0"/>
              <a:t>Additional features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Pause “menu”.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Play on pc or controller!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Speedrun timer.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Data stored locally.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More levels in the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And so much more!</a:t>
            </a:r>
          </a:p>
        </p:txBody>
      </p:sp>
    </p:spTree>
    <p:extLst>
      <p:ext uri="{BB962C8B-B14F-4D97-AF65-F5344CB8AC3E}">
        <p14:creationId xmlns:p14="http://schemas.microsoft.com/office/powerpoint/2010/main" val="3306501898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A3 Paper (297x420 mm)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Sitka Heading</vt:lpstr>
      <vt:lpstr>Source Sans Pro</vt:lpstr>
      <vt:lpstr>Zain Fishing Hooks</vt:lpstr>
      <vt:lpstr>3DFloatVTI</vt:lpstr>
      <vt:lpstr>Michael Hooper michael.hooper@students.plymouth.ac.uk BSc (Hons) Computer Science (Games Development)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mikey hooper</dc:creator>
  <cp:lastModifiedBy>mikey hooper</cp:lastModifiedBy>
  <cp:revision>15</cp:revision>
  <dcterms:created xsi:type="dcterms:W3CDTF">2026-03-15T12:39:50Z</dcterms:created>
  <dcterms:modified xsi:type="dcterms:W3CDTF">2026-04-17T16:02:20Z</dcterms:modified>
</cp:coreProperties>
</file>